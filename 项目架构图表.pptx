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  <a:latin typeface="Microsoft YaHei"/>
              </a:defRPr>
            </a:pPr>
            <a:r>
              <a:t>「慧办」项目架构图表</a:t>
            </a:r>
          </a:p>
          <a:p>
            <a:pPr algn="ctr">
              <a:spcBef>
                <a:spcPts val="2000"/>
              </a:spcBef>
              <a:defRPr sz="2800">
                <a:solidFill>
                  <a:srgbClr val="4A5568"/>
                </a:solidFill>
                <a:latin typeface="Microsoft YaHei"/>
              </a:defRPr>
            </a:pPr>
            <a:r>
              <a:t>本地私有化智能办公平台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5568"/>
                </a:solidFill>
                <a:latin typeface="Microsoft YaHei"/>
              </a:defRPr>
            </a:pPr>
            <a:r>
              <a:t>图2：四大核心创新点协同关系图  |  图3：系统总体架构图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图2  四大核心创新点协同关系图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pic>
        <p:nvPicPr>
          <p:cNvPr id="5" name="Picture 4" descr="fig2_seed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图3  系统总体架构图 · 四层分层设计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pic>
        <p:nvPicPr>
          <p:cNvPr id="5" name="Picture 4" descr="fig3_seed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1097280"/>
            <a:ext cx="9591040" cy="5394960"/>
          </a:xfrm>
          <a:prstGeom prst="rect">
            <a:avLst/>
          </a:prstGeom>
        </p:spPr>
      </p:pic>
      <p:sp>
        <p:nvSpPr>
          <p:cNvPr id="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